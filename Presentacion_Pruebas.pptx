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382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https://astqb.org/what-is-software-testing/ (definición de testing como reducción de riesgo)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https://astqb.org/what-is-software-testing/ (testing como evaluación de calidad y reducción de riesgo)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https://martinfowler.com/bliki/TestPyramid.html (concepto de pirámide de pruebas)
- https://martinfowler.com/articles/practical-test-pyramid.html (prácticas y balance)
- https://testing.googleblog.com/2024/10/smurf-beyond-test-pyramid.html (heurística: más unit, menos integración, menos E2E)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https://martinfowler.com/bliki/TestPyramid.html (más tests unitarios que E2E)
- https://dzone.com/articles/first-principles-solid-rules-for-tests (principios FIRST como guía de buenas pruebas)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https://docs.spring.io/spring-boot/reference/testing/spring-boot-applications.html (@SpringBootTest como pruebas de integración de aplicación)
- https://testing.googleblog.com/2021/06/how-much-testing-is-enough.html (definición/rol de integration tests en Google)
- https://jayfreestone.com/writing/integration-tests/ (enfoque de integration tests como validación con dependencias)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https://martinfowler.com/articles/practical-test-pyramid.html (E2E como capa superior: pocos, caros, frágiles)
- https://testing.googleblog.com/2024/10/smurf-beyond-test-pyramid.html (preferir más unit/integration que E2E)
- https://docs.spring.io/spring-boot/3.3/api/java/org/springframework/boot/test/web/client/TestRestTemplate.html (TestRestTemplate con @SpringBootTest)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https://automationpanda.com/2020/07/07/arrange-act-assert-a-pattern-for-writing-good-tests/ (patrón AAA y recomendación de no encadenar acciones/asserts)
- https://dzone.com/articles/first-principles-solid-rules-for-tests (principios FIRST)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https://martinfowler.com/articles/practical-test-pyramid.html (E2E costosos y propensos a fragilidad)
- https://testing.googleblog.com/2024/10/smurf-beyond-test-pyramid.html (balance: más unit/integration que E2E)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https://docs.spring.io/spring-boot/reference/testing/spring-boot-applications.html (tipos de pruebas con Spring Boot)
- https://docs.spring.io/spring-boot/3.3/api/java/org/springframework/boot/test/web/client/TestRestTemplate.html (uso de TestRestTemplate con @SpringBootTest)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https://astqb.org/what-is-software-testing/ (testing para reducir riesgo)
- https://martinfowler.com/articles/practical-test-pyramid.html (balance de tipos de pruebas)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Presentación de Pruebas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Unitarias • Integración • End‑to‑End (E2E)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1417320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31520" y="302666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2944368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Acelerar feedback, reducir riesgo y mejorar confiabilidad del producto.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835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60120" y="5440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5788152"/>
            <a:ext cx="1975104" cy="31089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60120" y="5843016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probar?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63824" y="5788152"/>
            <a:ext cx="2345436" cy="31089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163824" y="5843016"/>
            <a:ext cx="23454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Pirámide de pruebas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37860" y="5788152"/>
            <a:ext cx="1417320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737860" y="584301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Unitarias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83780" y="5788152"/>
            <a:ext cx="1417320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383780" y="584301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29700" y="5788152"/>
            <a:ext cx="1417320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029700" y="5843016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" y="6172200"/>
            <a:ext cx="1975104" cy="310896"/>
          </a:xfrm>
          <a:prstGeom prst="roundRect">
            <a:avLst/>
          </a:prstGeom>
          <a:solidFill>
            <a:srgbClr val="0F2D4F"/>
          </a:solidFill>
          <a:ln w="12700">
            <a:solidFill>
              <a:srgbClr val="0F2D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60120" y="6227064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Tips + checklist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hacemos pruebas?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69680" y="182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general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54406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= reducir riesgo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definición común en la industria: probar es evaluar calidad y reducir el riesgo de fallos en operación.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2514600"/>
            <a:ext cx="1417320" cy="310896"/>
          </a:xfrm>
          <a:prstGeom prst="roundRect">
            <a:avLst/>
          </a:prstGeom>
          <a:solidFill>
            <a:srgbClr val="0F2D4F"/>
          </a:solidFill>
          <a:ln w="12700">
            <a:solidFill>
              <a:srgbClr val="0F2D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60120" y="256946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907792"/>
            <a:ext cx="4892040" cy="1442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Detectan defectos temprano (más barato de corregir).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 confianza para refactorizar y agregar features.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Aumentan la calidad percibida y reducen regresiones.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Sirven como documentación viva del comportamiento.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005840"/>
            <a:ext cx="510235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rápido → entrega segura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1691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feedback llega en minutos, el equipo aprende y corrige más rápido.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2377440"/>
            <a:ext cx="4526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675120" y="2377440"/>
            <a:ext cx="109728" cy="1143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903720" y="24871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279806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bugs en producción → menos soporte y retrabajo.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3749040"/>
            <a:ext cx="4526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675120" y="3749040"/>
            <a:ext cx="10972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903720" y="3858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Velocidad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416966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pequeños + pruebas rápidas → pipelines ágiles.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5120640"/>
            <a:ext cx="4526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6675120" y="5120640"/>
            <a:ext cx="109728" cy="1143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903720" y="5230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Confianza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554126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Puedes mejorar diseño sin miedo: refactor con red de seguridad.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Pirámide de Pruebas (heurística)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69680" y="182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y velocidad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5669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719072"/>
            <a:ext cx="5212080" cy="120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Muchas pruebas pequeñas (unitarias) → feedback rápido.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pruebas medianas (integración) → validar piezas juntas.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pocas pruebas grandes (E2E) → validar flujos críticos.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37960" y="1005840"/>
            <a:ext cx="496519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812280" y="1234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Distribución sugerida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01000" y="1874520"/>
            <a:ext cx="2103120" cy="1051560"/>
          </a:xfrm>
          <a:prstGeom prst="triangl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001000" y="22128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E2E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Pocas • estables • flujos críticos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3291840"/>
            <a:ext cx="3108960" cy="1051560"/>
          </a:xfrm>
          <a:prstGeom prst="trapezoi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49808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8040" y="4434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Algunas • DB/HTTP/stubs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4709160"/>
            <a:ext cx="4114800" cy="1188720"/>
          </a:xfrm>
          <a:prstGeom prst="trapezoid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995160" y="50932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Unitarias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5577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Muchas • rápidas • aisladas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6035040"/>
            <a:ext cx="4553712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949440" y="60899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práctica: prioriza pruebas pequeñas; sube de nivel solo cuando aporte señal.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Unitarias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69680" y="182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del feedback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5669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60120" y="1188720"/>
            <a:ext cx="1417320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0120" y="124358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son?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116128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Verifican una unidad de comportamiento en aislamiento (método/clase) con dependencias controladas.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1874520"/>
            <a:ext cx="1728216" cy="310896"/>
          </a:xfrm>
          <a:prstGeom prst="roundRect">
            <a:avLst/>
          </a:prstGeom>
          <a:solidFill>
            <a:srgbClr val="0F2D4F"/>
          </a:solidFill>
          <a:ln w="12700">
            <a:solidFill>
              <a:srgbClr val="0F2D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60120" y="1929384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deben 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267712"/>
            <a:ext cx="5212080" cy="1369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Rápidas (ms), deterministas, sin IO (red/DB/FS).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Aisladas: mocks/fakes para dependencias externas.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Claras: 1 comportamiento por test; nombres explícitos.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Auto‑verificables: asserts claros (sin inspección manual).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4434840"/>
            <a:ext cx="1975104" cy="31089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60120" y="4489704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Ejemplos ideales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828032"/>
            <a:ext cx="5212080" cy="1150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de DTOs y reglas de negocio.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Mapeos (entity ↔ DTO), cálculos, parsers.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 de servicios con repositorios mockeados.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1005840"/>
            <a:ext cx="496519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12280" y="1234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(JUnit 5 + Mockito)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12280" y="1691640"/>
            <a:ext cx="4553712" cy="41605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967728" y="1874520"/>
            <a:ext cx="4242816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create_sets_fields()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Arrange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dto = new ChefCreateDTO("Gordon", "Gourmet", "Yelling");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when(repo.save(any())).thenAnswer(i -&gt; i.getArgument(0));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res = service.create(dto);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Assert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assertEquals("Gordon", res.name());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verify(repo).save(any());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5989320"/>
            <a:ext cx="4553712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949440" y="605332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si tu test tarda &gt;100ms, revisa dependencias externas.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de Integración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69680" y="182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piezas juntas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5669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60120" y="1188720"/>
            <a:ext cx="160477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0120" y="1243584"/>
            <a:ext cx="16047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validan?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4932" y="1161288"/>
            <a:ext cx="34244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componentes colaboren correctamente: servicio ↔ repositorio ↔ BD (o HTTP ↔ controller).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1874520"/>
            <a:ext cx="1975104" cy="310896"/>
          </a:xfrm>
          <a:prstGeom prst="roundRect">
            <a:avLst/>
          </a:prstGeom>
          <a:solidFill>
            <a:srgbClr val="0F2D4F"/>
          </a:solidFill>
          <a:ln w="12700">
            <a:solidFill>
              <a:srgbClr val="0F2D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60120" y="1929384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Buenas prácticas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267712"/>
            <a:ext cx="5212080" cy="1369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Entornos reproducibles: DB de test (H2/Testcontainers).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controlados: builders/fixtures; limpia entre tests.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depender de internet/APIs reales: usa stubs/mocks.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de contratos: JSON, validaciones, errores 4xx/5xx.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4434840"/>
            <a:ext cx="1728216" cy="31089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60120" y="4489704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Spring Boot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828032"/>
            <a:ext cx="5212080" cy="1150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@SpringBootTest: levanta el contexto completo.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Slice tests: @DataJpaTest, @WebMvcTest (más rápidos).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Perfiles: @ActiveProfiles("test") para no tocar la BD real.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1005840"/>
            <a:ext cx="496519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12280" y="1234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(JPA + H2/Testcontainers)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12280" y="1691640"/>
            <a:ext cx="4553712" cy="32461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967728" y="1874520"/>
            <a:ext cx="424281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@ActiveProfiles("test")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ChefServiceIT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ChefService service;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create_and_findById()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created = service.create(new ChefCreateDTO(...));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fetched = service.findById(created.id());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assertEquals(created.id(), fetched.id());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5074920"/>
            <a:ext cx="4553712" cy="12344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949440" y="52120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Regla: integra lo suficiente para ganar confianza, pero sin volver lenta la suite.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End‑to‑End (E2E)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69680" y="182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Flujos críticos, pocos y estables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5669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60120" y="1188720"/>
            <a:ext cx="1481328" cy="310896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0120" y="1243584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cubren?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61488" y="1161288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Validan un flujo completo como lo usa el usuario: API/UI → servicios → base de datos.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1874520"/>
            <a:ext cx="1975104" cy="310896"/>
          </a:xfrm>
          <a:prstGeom prst="roundRect">
            <a:avLst/>
          </a:prstGeom>
          <a:solidFill>
            <a:srgbClr val="0F2D4F"/>
          </a:solidFill>
          <a:ln w="12700">
            <a:solidFill>
              <a:srgbClr val="0F2D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60120" y="1929384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 valen oro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267712"/>
            <a:ext cx="5212080" cy="1150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Compra/checkout, login, permisos, flujos regulatorios.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 principales (contratos) y casos “happy path”.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de integración real (auth, routing, wiring).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4160520"/>
            <a:ext cx="2592324" cy="310896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60120" y="4215384"/>
            <a:ext cx="25923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evitar flakiness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553712"/>
            <a:ext cx="5212080" cy="1369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aislados por test: IDs únicos / reset de DB.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sleeps: espera condiciones (polling) con timeouts cortos.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dependencias externas (stubs) y el reloj (clock).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Mantén el set pequeño: 5–20 pruebas que “protejan” lo crítico.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1005840"/>
            <a:ext cx="496519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12280" y="1234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(API E2E con servidor real)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12280" y="1691640"/>
            <a:ext cx="4553712" cy="41605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967728" y="1874520"/>
            <a:ext cx="4242816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@SpringBootTest(webEnvironment = RANDOM_PORT)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@AutoConfigureTestRestTemplate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@ActiveProfiles("test")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MimidoE2E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TestRestTemplate http;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@Test void flow()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chef = http.postForEntity("/api/chefs", req, ChefDTO.class);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http.postForEntity("/api/dishes", dish1, DishDTO.class);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fetched = http.getForEntity("/api/chefs/{id}", ChefDTO.class, id);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assertEquals(2, fetched.getBody().dishIds().size());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989320"/>
            <a:ext cx="4553712" cy="3474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949440" y="605332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si un E2E falla “a veces”, no es test: es ruido. Hazlo determinista.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deben ser las pruebas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69680" y="182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y calidad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5669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Estructura: AAA (Arrange‑Act‑Assert)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1664208"/>
            <a:ext cx="5212080" cy="120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Arrange: prepara datos y dependencias.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Act: ejecuta una acción.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Assert: verifica el resultado (y nada más).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880360"/>
            <a:ext cx="5212080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143000" y="30632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oro: “Un test, un comportamiento”. Si necesitas Act‑Assert‑Act‑Assert, divide el test.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Calidad: FIRST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4590288"/>
            <a:ext cx="5212080" cy="97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Independent, Repeatable, Self‑validating, Timely.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es repetible, no es confiable.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37960" y="1005840"/>
            <a:ext cx="496519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812280" y="1234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rápido (por test)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12280" y="1847088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812280" y="181051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17830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describe el comportamiento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12280" y="2350008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812280" y="231343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228600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depende del orden de ejecución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12280" y="2852928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812280" y="28163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86600" y="27889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usa sleeps / tiempos mágicos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12280" y="3355848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812280" y="331927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32918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del test son locales y claros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12280" y="3858768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812280" y="382219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86600" y="379476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 con mensaje útil (asserts)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12280" y="4361688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812280" y="432511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86600" y="42976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aceptable (unit &lt; 100ms)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12280" y="5257800"/>
            <a:ext cx="4553712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949440" y="54406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Tip: cuando un test falla, debes saber “qué” y “por qué” en 30 segundos.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Antipatrones (y cómo evitarlos)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69680" y="182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flaky, más señal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1147572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más rompe suites de pruebas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178308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960120" y="1783080"/>
            <a:ext cx="10972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188720" y="189280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Flaky tests (fallan “a veces”)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arregla: Elimina sleeps, controla reloj/datos, usa waits por condición.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178308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10972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812280" y="189280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Dependencias reales (internet, APIs externas)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2280" y="22402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arregla: Stubs/Mock servers; contratos; fixtures deterministas.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324612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960120" y="3246120"/>
            <a:ext cx="109728" cy="1143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188720" y="335584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Demasiados E2E para todo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7033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arregla: Mueve lógica a unit/integration; deja E2E solo para rutas críticas.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324612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583680" y="3246120"/>
            <a:ext cx="10972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812280" y="335584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compartido entre tests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37033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arregla: Datos por test, limpiar DB, evitar orden implícito.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5715000"/>
            <a:ext cx="1088136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143000" y="5833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Mantra: “Menos tests, más señal”. Un test inútil cuesta tiempo todos los días.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Tips prácticos (Spring Boot)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69680" y="182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Aplicable a tu proyecto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1147572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Configuración de entorno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257800" cy="1369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@ActiveProfiles("test") + application-test.yml.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aislada: H2 (rápida) o Testcontainers (más realista).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ddl-auto: create-drop en tests; nunca apuntes a prod.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 prueba con builders (evita copiar/pegar).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12344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Elección del tipo de test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63640" y="1645920"/>
            <a:ext cx="5257800" cy="1369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@WebMvcTest: controller + mocks (rápido).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@DataJpaTest: repositorios + DB (rápido).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@SpringBootTest: integración completa (más lento).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 API: RANDOM_PORT + TestRestTemplate/WebTestClient.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4434840"/>
            <a:ext cx="5257800" cy="18745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115568" y="4590288"/>
            <a:ext cx="49469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application-test.yml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datasource: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url: jdbc:h2:mem:testdb;MODE=PostgreSQL;DB_CLOSE_DELAY=-1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jpa: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hibernate: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ddl-auto: create-drop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4434840"/>
            <a:ext cx="5257800" cy="18745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419088" y="4590288"/>
            <a:ext cx="49469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@SpringBootTest(webEnvironment = RANDOM_PORT)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@AutoConfigureTestRestTemplate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@ActiveProfiles("test")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ApiE2E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TestRestTemplate http;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cultura de pruebas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69680" y="182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Motivación + próximos pasos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56692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Frases para mantener el hábito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173736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143000" y="190195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2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“Las pruebas no son un costo: son el seguro de tus cambios.”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269748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143000" y="28620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2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“Cada test estable compra libertad para refactorizar mañana.”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0120" y="365760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43000" y="38221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2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“No buscamos 0 bugs; buscamos 0 sorpresas.”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461772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43000" y="47823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2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“Si duele probar, duele más no probar (en producción).”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1005840"/>
            <a:ext cx="496519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12280" y="1234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“listo para merge”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1719072"/>
            <a:ext cx="4526280" cy="1588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tests cubren reglas de negocio y edge cases.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tests validan DB/HTTP/serialización.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 protege 1–3 flujos críticos de usuario.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completa corre en CI y es estable (sin flaky).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total razonable: feedback útil en minutos.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12280" y="5394960"/>
            <a:ext cx="4553712" cy="9601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995160" y="5596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paso: define “qué es crítico” y automatiza esos flujos primero.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A6DE32475027D41AAD6821B5DAEDF1C" ma:contentTypeVersion="3" ma:contentTypeDescription="Crear nuevo documento." ma:contentTypeScope="" ma:versionID="a66579e4738213cd9d24d735adb7cffd">
  <xsd:schema xmlns:xsd="http://www.w3.org/2001/XMLSchema" xmlns:xs="http://www.w3.org/2001/XMLSchema" xmlns:p="http://schemas.microsoft.com/office/2006/metadata/properties" xmlns:ns2="309e2d70-d727-45b6-85fe-1f3720143b6c" targetNamespace="http://schemas.microsoft.com/office/2006/metadata/properties" ma:root="true" ma:fieldsID="b684258ef39eceb728d371926ca36499" ns2:_="">
    <xsd:import namespace="309e2d70-d727-45b6-85fe-1f3720143b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9e2d70-d727-45b6-85fe-1f3720143b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291525-ED50-4E6D-B0AF-03E93A5980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9e2d70-d727-45b6-85fe-1f3720143b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31868C-6AFF-4530-BA0F-AEB94971B62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FDB1832-3EE9-4E67-A709-E1FBAC9E30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2097</Words>
  <Application>Microsoft Office PowerPoint</Application>
  <PresentationFormat>Widescreen</PresentationFormat>
  <Paragraphs>219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Sebastián Zapata Ramírez</cp:lastModifiedBy>
  <cp:revision>2</cp:revision>
  <dcterms:created xsi:type="dcterms:W3CDTF">2026-03-03T16:06:08Z</dcterms:created>
  <dcterms:modified xsi:type="dcterms:W3CDTF">2026-07-02T19:10:27Z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0x0101007A6DE32475027D41AAD6821B5DAEDF1C</vt:lpwstr>
  </property>
</Properties>
</file>